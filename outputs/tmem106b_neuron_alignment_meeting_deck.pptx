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gif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502920"/>
            <a:ext cx="1874519" cy="8138160"/>
          </a:xfrm>
          <a:prstGeom prst="ellipse">
            <a:avLst/>
          </a:prstGeom>
          <a:solidFill>
            <a:srgbClr val="D6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97880" y="5349240"/>
            <a:ext cx="1325880" cy="3200400"/>
          </a:xfrm>
          <a:prstGeom prst="ellipse">
            <a:avLst/>
          </a:prstGeom>
          <a:solidFill>
            <a:srgbClr val="D6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23560" y="7406640"/>
            <a:ext cx="1005840" cy="1005840"/>
          </a:xfrm>
          <a:prstGeom prst="ellipse">
            <a:avLst/>
          </a:prstGeom>
          <a:solidFill>
            <a:srgbClr val="EE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80760" y="8183879"/>
            <a:ext cx="50292" cy="50292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09360" y="8430768"/>
            <a:ext cx="32004" cy="32004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71032" y="8549640"/>
            <a:ext cx="32004" cy="32004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7982712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9C3E2"/>
                </a:solidFill>
                <a:latin typeface="Georgia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8732520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5F5F5F"/>
                </a:solidFill>
                <a:latin typeface="Georgia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864108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5F5F5F"/>
                </a:solidFill>
                <a:latin typeface="Georgia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-1143000" y="777240"/>
            <a:ext cx="1920240" cy="7498079"/>
          </a:xfrm>
          <a:prstGeom prst="ellipse">
            <a:avLst/>
          </a:prstGeom>
          <a:solidFill>
            <a:srgbClr val="D6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169164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464646"/>
                </a:solidFill>
                <a:latin typeface="Georgia"/>
              </a:rPr>
              <a:t>TMEM106B neuron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90672"/>
            <a:ext cx="4526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41414"/>
                </a:solidFill>
                <a:latin typeface="Georgia"/>
              </a:rPr>
              <a:t>All-well longitudinal pilot and single-neuron candidate 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5F5F5F"/>
                </a:solidFill>
                <a:latin typeface="Georgia"/>
              </a:rPr>
              <a:t>260213 Feb recopy dataset | Days 8, 12,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6537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F5F5F"/>
                </a:solidFill>
                <a:latin typeface="Georgia"/>
              </a:rPr>
              <a:t>Prepared for PI meeting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5989320"/>
            <a:ext cx="2651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141414"/>
                </a:solidFill>
                <a:latin typeface="Georgia"/>
              </a:rPr>
              <a:t>Key takeaway: the pipeline now scales from one pilot pair to all 192 wells and shows stronger punctate-to-diffuse mCherry redistribution in PLD3+TMEM106B+mCherry wells.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502920"/>
            <a:ext cx="1874519" cy="8138160"/>
          </a:xfrm>
          <a:prstGeom prst="ellipse">
            <a:avLst/>
          </a:prstGeom>
          <a:solidFill>
            <a:srgbClr val="D6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97880" y="5349240"/>
            <a:ext cx="1325880" cy="3200400"/>
          </a:xfrm>
          <a:prstGeom prst="ellipse">
            <a:avLst/>
          </a:prstGeom>
          <a:solidFill>
            <a:srgbClr val="D6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23560" y="7406640"/>
            <a:ext cx="1005840" cy="1005840"/>
          </a:xfrm>
          <a:prstGeom prst="ellipse">
            <a:avLst/>
          </a:prstGeom>
          <a:solidFill>
            <a:srgbClr val="EE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80760" y="8183879"/>
            <a:ext cx="50292" cy="50292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09360" y="8430768"/>
            <a:ext cx="32004" cy="32004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71032" y="8549640"/>
            <a:ext cx="32004" cy="32004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7982712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9C3E2"/>
                </a:solidFill>
                <a:latin typeface="Georgia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8732520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5F5F5F"/>
                </a:solidFill>
                <a:latin typeface="Georgia"/>
              </a:rPr>
              <a:t>TMEM106B neuron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864108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5F5F5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051560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464646"/>
                </a:solidFill>
                <a:latin typeface="Georgia"/>
              </a:rPr>
              <a:t>From raw ND2 to trajectories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0116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5F5F5F"/>
                </a:solidFill>
                <a:latin typeface="Georgia"/>
              </a:rPr>
              <a:t>Register on 488, measure mCherry as phenotype.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697480"/>
            <a:ext cx="1965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Georgia"/>
              </a:defRPr>
            </a:pPr>
            <a:r>
              <a:t>Raw fluorescence ND2 files are loaded read-only.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Georgia"/>
              </a:defRPr>
            </a:pPr>
            <a:r>
              <a:t>488 channel estimates X/Y drift, avoiding bias from mCherry redistribution.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Georgia"/>
              </a:defRPr>
            </a:pPr>
            <a:r>
              <a:t>Same transform is applied to 561/mCherry, then puncta/diffuse signal is quantified.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Georgia"/>
              </a:defRPr>
            </a:pPr>
            <a:r>
              <a:t>Outputs are CSV/QC figures now; OME-Zarr stores support scalable image review.</a:t>
            </a:r>
          </a:p>
        </p:txBody>
      </p:sp>
      <p:pic>
        <p:nvPicPr>
          <p:cNvPr id="14" name="Picture 13" descr="registration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923794"/>
            <a:ext cx="2880360" cy="20162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27248" y="544068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5F5F5F"/>
                </a:solidFill>
                <a:latin typeface="Georgia"/>
              </a:rPr>
              <a:t>Example registration QC: before/after 488-channel alignment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502920"/>
            <a:ext cx="1874519" cy="8138160"/>
          </a:xfrm>
          <a:prstGeom prst="ellipse">
            <a:avLst/>
          </a:prstGeom>
          <a:solidFill>
            <a:srgbClr val="D6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97880" y="5349240"/>
            <a:ext cx="1325880" cy="3200400"/>
          </a:xfrm>
          <a:prstGeom prst="ellipse">
            <a:avLst/>
          </a:prstGeom>
          <a:solidFill>
            <a:srgbClr val="D6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23560" y="7406640"/>
            <a:ext cx="1005840" cy="1005840"/>
          </a:xfrm>
          <a:prstGeom prst="ellipse">
            <a:avLst/>
          </a:prstGeom>
          <a:solidFill>
            <a:srgbClr val="EE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80760" y="8183879"/>
            <a:ext cx="50292" cy="50292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09360" y="8430768"/>
            <a:ext cx="32004" cy="32004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71032" y="8549640"/>
            <a:ext cx="32004" cy="32004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7982712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9C3E2"/>
                </a:solidFill>
                <a:latin typeface="Georgia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8732520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5F5F5F"/>
                </a:solidFill>
                <a:latin typeface="Georgia"/>
              </a:rPr>
              <a:t>TMEM106B neuron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864108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5F5F5F"/>
                </a:solidFill>
                <a:latin typeface="Georg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051560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464646"/>
                </a:solidFill>
                <a:latin typeface="Georgia"/>
              </a:rPr>
              <a:t>Scale-up: all wells, not just E05/F05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0116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5F5F5F"/>
                </a:solidFill>
                <a:latin typeface="Georgia"/>
              </a:rPr>
              <a:t>The E05/F05 pair was only the first pilot.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464646"/>
                </a:solidFill>
                <a:latin typeface="Georgia"/>
              </a:rPr>
              <a:t>192/192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8986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5F5F5F"/>
                </a:solidFill>
                <a:latin typeface="Georgia"/>
              </a:rPr>
              <a:t>wells processed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51460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464646"/>
                </a:solidFill>
                <a:latin typeface="Georgia"/>
              </a:rPr>
              <a:t>576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86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5F5F5F"/>
                </a:solidFill>
                <a:latin typeface="Georgia"/>
              </a:rPr>
              <a:t>ND2 files 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5760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464646"/>
                </a:solidFill>
                <a:latin typeface="Georgia"/>
              </a:rPr>
              <a:t>576/576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416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5F5F5F"/>
                </a:solidFill>
                <a:latin typeface="Georgia"/>
              </a:rPr>
              <a:t>registration QC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65760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464646"/>
                </a:solidFill>
                <a:latin typeface="Georgia"/>
              </a:rPr>
              <a:t>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0416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5F5F5F"/>
                </a:solidFill>
                <a:latin typeface="Georgia"/>
              </a:rPr>
              <a:t>mCherry-valid wells measured</a:t>
            </a:r>
          </a:p>
        </p:txBody>
      </p:sp>
      <p:pic>
        <p:nvPicPr>
          <p:cNvPr id="21" name="Picture 20" descr="all_wells_registration_qc_pass_f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083" y="4892040"/>
            <a:ext cx="3941233" cy="22402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" y="7452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141414"/>
                </a:solidFill>
                <a:latin typeface="Georgia"/>
              </a:rPr>
              <a:t>Rows C/D/G/H/K/L are included for registration QC, but excluded from mCherry puncta/diffuse interpretation.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502920"/>
            <a:ext cx="1874519" cy="8138160"/>
          </a:xfrm>
          <a:prstGeom prst="ellipse">
            <a:avLst/>
          </a:prstGeom>
          <a:solidFill>
            <a:srgbClr val="D6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97880" y="5349240"/>
            <a:ext cx="1325880" cy="3200400"/>
          </a:xfrm>
          <a:prstGeom prst="ellipse">
            <a:avLst/>
          </a:prstGeom>
          <a:solidFill>
            <a:srgbClr val="D6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23560" y="7406640"/>
            <a:ext cx="1005840" cy="1005840"/>
          </a:xfrm>
          <a:prstGeom prst="ellipse">
            <a:avLst/>
          </a:prstGeom>
          <a:solidFill>
            <a:srgbClr val="EE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80760" y="8183879"/>
            <a:ext cx="50292" cy="50292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09360" y="8430768"/>
            <a:ext cx="32004" cy="32004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71032" y="8549640"/>
            <a:ext cx="32004" cy="32004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7982712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9C3E2"/>
                </a:solidFill>
                <a:latin typeface="Georgia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8732520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5F5F5F"/>
                </a:solidFill>
                <a:latin typeface="Georgia"/>
              </a:rPr>
              <a:t>TMEM106B neuron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864108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5F5F5F"/>
                </a:solidFill>
                <a:latin typeface="Georg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051560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464646"/>
                </a:solidFill>
                <a:latin typeface="Georgia"/>
              </a:rPr>
              <a:t>mCherry signal shifts more in TMEM106B wells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0116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5F5F5F"/>
                </a:solidFill>
                <a:latin typeface="Georgia"/>
              </a:rPr>
              <a:t>Screening metric: diffuse / punctate mCherry ratio.</a:t>
            </a:r>
          </a:p>
        </p:txBody>
      </p:sp>
      <p:pic>
        <p:nvPicPr>
          <p:cNvPr id="13" name="Picture 12" descr="all_wells_mcherry_condi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3545"/>
            <a:ext cx="5349240" cy="30567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5760720"/>
            <a:ext cx="4892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Georgia"/>
              </a:defRPr>
            </a:pPr>
            <a:r>
              <a:t>Primary wells: 3.26 -&gt; 4.53 from Day 8 to Day 16.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Georgia"/>
              </a:defRPr>
            </a:pPr>
            <a:r>
              <a:t>Reporter controls: 2.55 -&gt; 2.78 over the same window.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Georgia"/>
              </a:defRPr>
            </a:pPr>
            <a:r>
              <a:t>Interpret as punctate-to-diffuse reporter redistribution, not rupture proof.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502920"/>
            <a:ext cx="1874519" cy="8138160"/>
          </a:xfrm>
          <a:prstGeom prst="ellipse">
            <a:avLst/>
          </a:prstGeom>
          <a:solidFill>
            <a:srgbClr val="D6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97880" y="5349240"/>
            <a:ext cx="1325880" cy="3200400"/>
          </a:xfrm>
          <a:prstGeom prst="ellipse">
            <a:avLst/>
          </a:prstGeom>
          <a:solidFill>
            <a:srgbClr val="D6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23560" y="7406640"/>
            <a:ext cx="1005840" cy="1005840"/>
          </a:xfrm>
          <a:prstGeom prst="ellipse">
            <a:avLst/>
          </a:prstGeom>
          <a:solidFill>
            <a:srgbClr val="EE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80760" y="8183879"/>
            <a:ext cx="50292" cy="50292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09360" y="8430768"/>
            <a:ext cx="32004" cy="32004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71032" y="8549640"/>
            <a:ext cx="32004" cy="32004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7982712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9C3E2"/>
                </a:solidFill>
                <a:latin typeface="Georgia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8732520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5F5F5F"/>
                </a:solidFill>
                <a:latin typeface="Georgia"/>
              </a:rPr>
              <a:t>TMEM106B neuron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864108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5F5F5F"/>
                </a:solidFill>
                <a:latin typeface="Georgia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051560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464646"/>
                </a:solidFill>
                <a:latin typeface="Georgia"/>
              </a:rPr>
              <a:t>Plate-level heterogeneity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0116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5F5F5F"/>
                </a:solidFill>
                <a:latin typeface="Georgia"/>
              </a:rPr>
              <a:t>All mCherry-valid rows are visible in one heatmap.</a:t>
            </a:r>
          </a:p>
        </p:txBody>
      </p:sp>
      <p:pic>
        <p:nvPicPr>
          <p:cNvPr id="13" name="Picture 12" descr="all_wells_mcherry_ratio_slop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29727"/>
            <a:ext cx="5486400" cy="31185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55321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141414"/>
                </a:solidFill>
                <a:latin typeface="Georgia"/>
              </a:rPr>
              <a:t>This view helps choose wells/timepoints for manual ROI review, segmentation validation, and follow-up assays.</a:t>
            </a:r>
          </a:p>
        </p:txBody>
      </p:sp>
      <p:pic>
        <p:nvPicPr>
          <p:cNvPr id="15" name="Picture 14" descr="all_wells_registration_qc_pass_f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759" y="6263640"/>
            <a:ext cx="28956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502920"/>
            <a:ext cx="1874519" cy="8138160"/>
          </a:xfrm>
          <a:prstGeom prst="ellipse">
            <a:avLst/>
          </a:prstGeom>
          <a:solidFill>
            <a:srgbClr val="D6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97880" y="5349240"/>
            <a:ext cx="1325880" cy="3200400"/>
          </a:xfrm>
          <a:prstGeom prst="ellipse">
            <a:avLst/>
          </a:prstGeom>
          <a:solidFill>
            <a:srgbClr val="D6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23560" y="7406640"/>
            <a:ext cx="1005840" cy="1005840"/>
          </a:xfrm>
          <a:prstGeom prst="ellipse">
            <a:avLst/>
          </a:prstGeom>
          <a:solidFill>
            <a:srgbClr val="EE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80760" y="8183879"/>
            <a:ext cx="50292" cy="50292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09360" y="8430768"/>
            <a:ext cx="32004" cy="32004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71032" y="8549640"/>
            <a:ext cx="32004" cy="32004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7982712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9C3E2"/>
                </a:solidFill>
                <a:latin typeface="Georgia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8732520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5F5F5F"/>
                </a:solidFill>
                <a:latin typeface="Georgia"/>
              </a:rPr>
              <a:t>TMEM106B neuron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864108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5F5F5F"/>
                </a:solidFill>
                <a:latin typeface="Georgia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051560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464646"/>
                </a:solidFill>
                <a:latin typeface="Georgia"/>
              </a:rPr>
              <a:t>Single-neuron candidate 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0116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5F5F5F"/>
                </a:solidFill>
                <a:latin typeface="Georgia"/>
              </a:rPr>
              <a:t>Local ROI crops make the alignment concept visible.</a:t>
            </a:r>
          </a:p>
        </p:txBody>
      </p:sp>
      <p:pic>
        <p:nvPicPr>
          <p:cNvPr id="13" name="Picture 12" descr="E05_vs_F05_single_neuron_mcherry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162" y="2084831"/>
            <a:ext cx="4457700" cy="2971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544068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141414"/>
                </a:solidFill>
                <a:latin typeface="Georgia"/>
              </a:defRPr>
            </a:pPr>
            <a:r>
              <a:t>Automatic 488-positive local ROI selection across Days 8/12/16.</a:t>
            </a:r>
          </a:p>
          <a:p>
            <a:pPr>
              <a:spcAft>
                <a:spcPts val="800"/>
              </a:spcAft>
              <a:defRPr sz="1150">
                <a:solidFill>
                  <a:srgbClr val="141414"/>
                </a:solidFill>
                <a:latin typeface="Georgia"/>
              </a:defRPr>
            </a:pPr>
            <a:r>
              <a:t>Crop-level local registration is applied before mCherry quantification.</a:t>
            </a:r>
          </a:p>
          <a:p>
            <a:pPr>
              <a:spcAft>
                <a:spcPts val="800"/>
              </a:spcAft>
              <a:defRPr sz="1150">
                <a:solidFill>
                  <a:srgbClr val="141414"/>
                </a:solidFill>
                <a:latin typeface="Georgia"/>
              </a:defRPr>
            </a:pPr>
            <a:r>
              <a:t>Manual same-neuron identity review is still required.</a:t>
            </a:r>
          </a:p>
        </p:txBody>
      </p:sp>
      <p:pic>
        <p:nvPicPr>
          <p:cNvPr id="15" name="Picture 14" descr="E05_vs_F05_single_neuron_mcherry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59" y="6903720"/>
            <a:ext cx="2286000" cy="1143000"/>
          </a:xfrm>
          <a:prstGeom prst="rect">
            <a:avLst/>
          </a:prstGeom>
        </p:spPr>
      </p:pic>
      <p:pic>
        <p:nvPicPr>
          <p:cNvPr id="16" name="Picture 15" descr="single_neuron_mcherry_metric_over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000" y="6629400"/>
            <a:ext cx="1982279" cy="1417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2688" y="816559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5F5F5F"/>
                </a:solidFill>
                <a:latin typeface="Georgia"/>
              </a:rPr>
              <a:t>Embedded GIF: E05 vs F05 local ROI mCherry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502920"/>
            <a:ext cx="1874519" cy="8138160"/>
          </a:xfrm>
          <a:prstGeom prst="ellipse">
            <a:avLst/>
          </a:prstGeom>
          <a:solidFill>
            <a:srgbClr val="D6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97880" y="5349240"/>
            <a:ext cx="1325880" cy="3200400"/>
          </a:xfrm>
          <a:prstGeom prst="ellipse">
            <a:avLst/>
          </a:prstGeom>
          <a:solidFill>
            <a:srgbClr val="D6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23560" y="7406640"/>
            <a:ext cx="1005840" cy="1005840"/>
          </a:xfrm>
          <a:prstGeom prst="ellipse">
            <a:avLst/>
          </a:prstGeom>
          <a:solidFill>
            <a:srgbClr val="EE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80760" y="8183879"/>
            <a:ext cx="50292" cy="50292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09360" y="8430768"/>
            <a:ext cx="32004" cy="32004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71032" y="8549640"/>
            <a:ext cx="32004" cy="32004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7982712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9C3E2"/>
                </a:solidFill>
                <a:latin typeface="Georgia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8732520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5F5F5F"/>
                </a:solidFill>
                <a:latin typeface="Georgia"/>
              </a:rPr>
              <a:t>TMEM106B neuron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864108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5F5F5F"/>
                </a:solidFill>
                <a:latin typeface="Georgia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051560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464646"/>
                </a:solidFill>
                <a:latin typeface="Georgia"/>
              </a:rPr>
              <a:t>Why OME-Zarr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0116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5F5F5F"/>
                </a:solidFill>
                <a:latin typeface="Georgia"/>
              </a:rPr>
              <a:t>Metrics are compact; images need a scalable store.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5146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Georgia"/>
              </a:defRPr>
            </a:pPr>
            <a:r>
              <a:t>The all-well run writes compact QC/measurement CSVs rather than duplicating hundreds of image stacks.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Georgia"/>
              </a:defRPr>
            </a:pPr>
            <a:r>
              <a:t>OME-Zarr supports chunked, lazy image access for napari and web viewers.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Georgia"/>
              </a:defRPr>
            </a:pPr>
            <a:r>
              <a:t>Registered single-neuron ROI stacks were exported as proof-of-format.</a:t>
            </a:r>
          </a:p>
          <a:p>
            <a:pPr>
              <a:spcAft>
                <a:spcPts val="800"/>
              </a:spcAft>
              <a:defRPr sz="1200">
                <a:solidFill>
                  <a:srgbClr val="141414"/>
                </a:solidFill>
                <a:latin typeface="Georgia"/>
              </a:defRPr>
            </a:pPr>
            <a:r>
              <a:t>Next: plate-level OME-Zarr layout for selected registered wells/days/channels.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464646"/>
                </a:solidFill>
                <a:latin typeface="Georgia"/>
              </a:rPr>
              <a:t>Verified OME-Zarr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62356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141414"/>
                </a:solidFill>
                <a:latin typeface="Georgia"/>
              </a:defRPr>
            </a:pPr>
            <a:r>
              <a:t>Shape: 3 timepoints x 3 channels x 160 x 160 px</a:t>
            </a:r>
          </a:p>
          <a:p>
            <a:pPr>
              <a:spcAft>
                <a:spcPts val="800"/>
              </a:spcAft>
              <a:defRPr sz="1150">
                <a:solidFill>
                  <a:srgbClr val="141414"/>
                </a:solidFill>
                <a:latin typeface="Georgia"/>
              </a:defRPr>
            </a:pPr>
            <a:r>
              <a:t>Chunks: 1 x 1 x 160 x 160</a:t>
            </a:r>
          </a:p>
          <a:p>
            <a:pPr>
              <a:spcAft>
                <a:spcPts val="800"/>
              </a:spcAft>
              <a:defRPr sz="1150">
                <a:solidFill>
                  <a:srgbClr val="141414"/>
                </a:solidFill>
                <a:latin typeface="Georgia"/>
              </a:defRPr>
            </a:pPr>
            <a:r>
              <a:t>Location: single_neuron_examples/ome_zarr/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502920"/>
            <a:ext cx="1874519" cy="8138160"/>
          </a:xfrm>
          <a:prstGeom prst="ellipse">
            <a:avLst/>
          </a:prstGeom>
          <a:solidFill>
            <a:srgbClr val="D6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97880" y="5349240"/>
            <a:ext cx="1325880" cy="3200400"/>
          </a:xfrm>
          <a:prstGeom prst="ellipse">
            <a:avLst/>
          </a:prstGeom>
          <a:solidFill>
            <a:srgbClr val="D6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23560" y="7406640"/>
            <a:ext cx="1005840" cy="1005840"/>
          </a:xfrm>
          <a:prstGeom prst="ellipse">
            <a:avLst/>
          </a:prstGeom>
          <a:solidFill>
            <a:srgbClr val="EE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80760" y="8183879"/>
            <a:ext cx="50292" cy="50292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09360" y="8430768"/>
            <a:ext cx="32004" cy="32004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71032" y="8549640"/>
            <a:ext cx="32004" cy="32004"/>
          </a:xfrm>
          <a:prstGeom prst="ellipse">
            <a:avLst/>
          </a:prstGeom>
          <a:solidFill>
            <a:srgbClr val="79C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7982712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9C3E2"/>
                </a:solidFill>
                <a:latin typeface="Georgia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8732520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5F5F5F"/>
                </a:solidFill>
                <a:latin typeface="Georgia"/>
              </a:rPr>
              <a:t>TMEM106B neuron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864108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5F5F5F"/>
                </a:solidFill>
                <a:latin typeface="Georgia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051560"/>
            <a:ext cx="4663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464646"/>
                </a:solidFill>
                <a:latin typeface="Georgia"/>
              </a:rPr>
              <a:t>What is needed before a manuscript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0116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5F5F5F"/>
                </a:solidFill>
                <a:latin typeface="Georgia"/>
              </a:rPr>
              <a:t>This is a strong screening workflow, not final rupture proof.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331720"/>
            <a:ext cx="4892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141414"/>
                </a:solidFill>
                <a:latin typeface="Georgia"/>
              </a:defRPr>
            </a:pPr>
            <a:r>
              <a:t>Manual ROI review and segmentation/tracking validation for same-neuron claims.</a:t>
            </a:r>
          </a:p>
          <a:p>
            <a:pPr>
              <a:spcAft>
                <a:spcPts val="800"/>
              </a:spcAft>
              <a:defRPr sz="1250">
                <a:solidFill>
                  <a:srgbClr val="141414"/>
                </a:solidFill>
                <a:latin typeface="Georgia"/>
              </a:defRPr>
            </a:pPr>
            <a:r>
              <a:t>Extend from Days 8/12/16 to all available days: 8, 12, 16, 20, 25, 29, 32, 36, 39.</a:t>
            </a:r>
          </a:p>
          <a:p>
            <a:pPr>
              <a:spcAft>
                <a:spcPts val="800"/>
              </a:spcAft>
              <a:defRPr sz="1250">
                <a:solidFill>
                  <a:srgbClr val="141414"/>
                </a:solidFill>
                <a:latin typeface="Georgia"/>
              </a:defRPr>
            </a:pPr>
            <a:r>
              <a:t>Orthogonal rupture markers: Galectin-3/8, LAMP1/2 morphology, LysoTracker loss, p62/LC3, LLOMe positive control.</a:t>
            </a:r>
          </a:p>
          <a:p>
            <a:pPr>
              <a:spcAft>
                <a:spcPts val="800"/>
              </a:spcAft>
              <a:defRPr sz="1250">
                <a:solidFill>
                  <a:srgbClr val="141414"/>
                </a:solidFill>
                <a:latin typeface="Georgia"/>
              </a:defRPr>
            </a:pPr>
            <a:r>
              <a:t>Export selected registered wells to OME-Zarr for scalable review.</a:t>
            </a:r>
          </a:p>
          <a:p>
            <a:pPr>
              <a:spcAft>
                <a:spcPts val="800"/>
              </a:spcAft>
              <a:defRPr sz="1250">
                <a:solidFill>
                  <a:srgbClr val="141414"/>
                </a:solidFill>
                <a:latin typeface="Georgia"/>
              </a:defRPr>
            </a:pPr>
            <a:r>
              <a:t>Then test condition x time with well/site/neuron-level replicates.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263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64646"/>
                </a:solidFill>
                <a:latin typeface="Georgia"/>
              </a:rPr>
              <a:t>Bottom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672084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41414"/>
                </a:solidFill>
                <a:latin typeface="Georgia"/>
              </a:rPr>
              <a:t>The pipeline now turns longitudinal microscopy into all-well quantitative trajectories that can prioritize TMEM106B conditions for deeper lysosome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8001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464646"/>
                </a:solidFill>
                <a:latin typeface="Georg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